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40080"/>
            <a:ext cx="3840480" cy="45720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PROJET DE FIN D'ÉTUDES — ENCG EL JADIDA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L'Impact de l'Intelligence Artificielle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sur l'efficacité des stratégies de Marketing Digital</a:t>
            </a:r>
          </a:p>
          <a:p>
            <a:pPr algn="l"/>
            <a:r>
              <a:rPr sz="2200" b="0" i="1">
                <a:solidFill>
                  <a:srgbClr val="FF6B35"/>
                </a:solidFill>
                <a:latin typeface="Calibri"/>
              </a:rPr>
              <a:t>Optimisation du ciblage et du contenu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292608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2F1F7"/>
                </a:solidFill>
                <a:latin typeface="Calibri"/>
              </a:rPr>
              <a:t>Cas pratique : campagne de lancement Varcadia (Soualem)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Réalisé par : ABDOUH Yassir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2F1F7"/>
                </a:solidFill>
                <a:latin typeface="Calibri"/>
              </a:rPr>
              <a:t>Encadrante pédagogique : Mme. Hasnaa ALAMI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2F1F7"/>
                </a:solidFill>
                <a:latin typeface="Calibri"/>
              </a:rPr>
              <a:t>Structures d'accueil : Widma Digitale (360)  ×  Volcano Vision</a:t>
            </a:r>
          </a:p>
          <a:p>
            <a:pPr algn="l"/>
            <a:r>
              <a:rPr sz="1400" b="0" i="0">
                <a:solidFill>
                  <a:srgbClr val="6B6B7B"/>
                </a:solidFill>
                <a:latin typeface="Calibri"/>
              </a:rPr>
              <a:t>Filière Marketing — Année universitaire 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POUR COMMENCER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383280" cy="137160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+ 1 000 000
de vues en 1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43000"/>
            <a:ext cx="3383280" cy="137160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 personnes
un budget maîtrisé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143000"/>
            <a:ext cx="3520440" cy="137160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Marque inconnue
il y a 30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libri"/>
              </a:rPr>
              <a:t>Comment ? Et quel a été le rôle réel de l'IA 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927080" cy="2651760"/>
          </a:xfrm>
          <a:prstGeom prst="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9728" cy="265176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C7D4"/>
                </a:solidFill>
                <a:latin typeface="Calibri"/>
              </a:rPr>
              <a:t>UNE PARENTHÈSE PERSONNELLE — VOLCANO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24528"/>
            <a:ext cx="10469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Ce projet, je ne l'ai pas seulement observé : je l'ai piloté — en tant que stagiaire chez Widma Digitale, mais aussi en tant que fondateur de ma propre agence, Volcano Vision, créée alors que j'étais encore étudiant à l'ENCG.</a:t>
            </a:r>
          </a:p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F2F1F7"/>
                </a:solidFill>
                <a:latin typeface="Calibri"/>
              </a:rPr>
              <a:t>Le déclic : beaucoup d'entreprises locales voulaient du contenu de qualité, sans le budget des grandes productions. L'IA générative rendait cela possible — il fallait quelqu'un pour faire le pont. J'ai démarré léger, je me suis formé seul aux outils, et j'ai bâti ma crédibilité mission après mission.</a:t>
            </a:r>
          </a:p>
          <a:p>
            <a:pPr algn="l"/>
            <a:r>
              <a:rPr sz="1550" b="1" i="0">
                <a:solidFill>
                  <a:srgbClr val="FF6B35"/>
                </a:solidFill>
                <a:latin typeface="Calibri"/>
              </a:rPr>
              <a:t>Volcano Vision a été mon véritable laboratoire des problématiques analysées dans ce mémoire.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1C7D4"/>
                </a:solidFill>
                <a:latin typeface="Calibri"/>
              </a:rPr>
              <a:t>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•  </a:t>
            </a:r>
            <a:r>
              <a:rPr sz="1700">
                <a:solidFill>
                  <a:srgbClr val="1E1E2C"/>
                </a:solidFill>
                <a:latin typeface="Calibri"/>
              </a:rPr>
              <a:t>Saturation publicitaire &amp; fragmentation des audiences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•  </a:t>
            </a:r>
            <a:r>
              <a:rPr sz="1700">
                <a:solidFill>
                  <a:srgbClr val="1E1E2C"/>
                </a:solidFill>
                <a:latin typeface="Calibri"/>
              </a:rPr>
              <a:t>L'IA générative bouleverse la production de contenu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•  </a:t>
            </a:r>
            <a:r>
              <a:rPr sz="1700">
                <a:solidFill>
                  <a:srgbClr val="1E1E2C"/>
                </a:solidFill>
                <a:latin typeface="Calibri"/>
              </a:rPr>
              <a:t>Au Maroc : adoption progressive, peu d'études de cas réels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828800"/>
            <a:ext cx="5212080" cy="4023360"/>
          </a:xfrm>
          <a:prstGeom prst="rect">
            <a:avLst/>
          </a:prstGeom>
          <a:solidFill>
            <a:srgbClr val="14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109728" cy="40233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PROBLÉMATIQUE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709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Dans quelle mesure l'intelligence artificielle améliore-t-elle l'efficacité des stratégies de marketing digital,</a:t>
            </a:r>
          </a:p>
          <a:p>
            <a:pPr algn="l"/>
            <a:r>
              <a:rPr sz="1900" b="1" i="0">
                <a:solidFill>
                  <a:srgbClr val="21C7D4"/>
                </a:solidFill>
                <a:latin typeface="Calibri"/>
              </a:rPr>
              <a:t>notamment à travers l'optimisation du ciblage et la personnalisation du contenu publicitaire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Hypothèses &amp;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914400" cy="868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874519"/>
            <a:ext cx="9875520" cy="86868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874519"/>
            <a:ext cx="9509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E1E2C"/>
                </a:solidFill>
                <a:latin typeface="Calibri"/>
              </a:rPr>
              <a:t>L'IA dans le ciblage améliore significativement le taux de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79"/>
            <a:ext cx="914400" cy="868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926079"/>
            <a:ext cx="9875520" cy="86868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926079"/>
            <a:ext cx="9509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E1E2C"/>
                </a:solidFill>
                <a:latin typeface="Calibri"/>
              </a:rPr>
              <a:t>Le contenu IA supervisé atteint un engagement comparable à l'humain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914400" cy="868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977639"/>
            <a:ext cx="9875520" cy="86868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977639"/>
            <a:ext cx="9509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E1E2C"/>
                </a:solidFill>
                <a:latin typeface="Calibri"/>
              </a:rPr>
              <a:t>L'IA procure un avantage concurrentiel mesurable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C7D4"/>
                </a:solidFill>
                <a:latin typeface="Calibri"/>
              </a:rPr>
              <a:t>OBJECTIFS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41233"/>
                </a:solidFill>
                <a:latin typeface="Calibri"/>
              </a:rPr>
              <a:t>État de l'art   →   Évaluation empirique   →   Cas pratique Varcadia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PARTIE 1 — CADRE THÉORIQUE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Du marketing traditionnel au data-driven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25237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023360"/>
                <a:gridCol w="448056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Marketing traditionnel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Marketing data-driven (IA)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Diffusion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Message unique, de masse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Message personnalisé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Segmentation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Critères statiques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Micro-segments dynamiques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Décision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Intuition, expérience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Modèles prédictifs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Mesure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Indirecte, différée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Temps réel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Optimisation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Manuelle, cycles longs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E1E2C"/>
                          </a:solidFill>
                          <a:latin typeface="Calibri"/>
                        </a:rPr>
                        <a:t>Automatisée, en continu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C7D4"/>
                </a:solidFill>
                <a:latin typeface="Calibri"/>
              </a:rPr>
              <a:t>4 FAMILLES D'IA EN MARKETING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2606040" cy="64008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5029200"/>
            <a:ext cx="2606040" cy="64008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NLP (langage)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029200"/>
            <a:ext cx="2606040" cy="64008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Vision par ordinateur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029200"/>
            <a:ext cx="2606040" cy="6400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IA générative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B6B7B"/>
                </a:solidFill>
                <a:latin typeface="Calibri"/>
              </a:rPr>
              <a:t>Principe de l'IA générative : on ne produit plus l'image, on décrit l'image que l'on veut obtenir.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PARTIE 2 — 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Une démarche qualitative ancrée sur le terrain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0927080" cy="914400"/>
          </a:xfrm>
          <a:prstGeom prst="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Étude de cas unique  +  Observation participante</a:t>
            </a:r>
          </a:p>
          <a:p>
            <a:pPr algn="l"/>
            <a:r>
              <a:rPr sz="1400" b="0" i="0">
                <a:solidFill>
                  <a:srgbClr val="F2F1F7"/>
                </a:solidFill>
                <a:latin typeface="Calibri"/>
              </a:rPr>
              <a:t>Je suis acteur du projet, et non observateur externe — accès privilégié aux décisions et résultats.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C7D4"/>
                </a:solidFill>
                <a:latin typeface="Calibri"/>
              </a:rPr>
              <a:t>3 SOURCES DE DONNÉES COMPLÉMENTAIRES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3520440" cy="21945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3520440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3246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①  Métriques régies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5196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E1E2C"/>
                </a:solidFill>
                <a:latin typeface="Calibri"/>
              </a:rPr>
              <a:t>Google Ads &amp; Meta Ads :
vues, CTR, engagement,
CPV, CPM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566160"/>
            <a:ext cx="3520440" cy="21945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566160"/>
            <a:ext cx="3520440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566160"/>
            <a:ext cx="3246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②  Notes de terrain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25196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E1E2C"/>
                </a:solidFill>
                <a:latin typeface="Calibri"/>
              </a:rPr>
              <a:t>Journal de bord,
prompts &amp; itérations,
décisions stratégiques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566160"/>
            <a:ext cx="3520440" cy="21945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566160"/>
            <a:ext cx="3520440" cy="548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566160"/>
            <a:ext cx="3246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③  Réception publique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E1E2C"/>
                </a:solidFill>
                <a:latin typeface="Calibri"/>
              </a:rPr>
              <a:t>Commentaires, UGC,
partages + données
d'affluence (client)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CAS PRATIQUE — VARCADIA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Le contexte &amp; le défi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E1E2C"/>
                </a:solidFill>
                <a:latin typeface="Calibri"/>
              </a:rPr>
              <a:t>Parc de jeux indoor à Soualem (Casablanca-Settat) — cible : familles, jeunes 15-30 ans, groupes scolaires.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5440680" cy="1874519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109728" cy="1874519"/>
          </a:xfrm>
          <a:prstGeom prst="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B872"/>
                </a:solidFill>
                <a:latin typeface="Calibri"/>
              </a:rPr>
              <a:t>FORCES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2EB872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Concept neuf et moderne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2EB872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Aucun concurrent direct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2EB872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Forte demande familiale latente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423160"/>
            <a:ext cx="5440680" cy="1874519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423160"/>
            <a:ext cx="109728" cy="18745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49631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FAIBLESSES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80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Marque inconnue avant lancement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Budget média limité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Notoriété à construire de zéro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34840"/>
            <a:ext cx="5440680" cy="1874519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434840"/>
            <a:ext cx="109728" cy="1874519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079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C7D4"/>
                </a:solidFill>
                <a:latin typeface="Calibri"/>
              </a:rPr>
              <a:t>OPPORTUNITÉS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21C7D4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Croissance démographique régionale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21C7D4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IA générative peu coûteuse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21C7D4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Potentiel d'amplification organique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434840"/>
            <a:ext cx="5440680" cy="1874519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434840"/>
            <a:ext cx="109728" cy="1874519"/>
          </a:xfrm>
          <a:prstGeom prst="rect">
            <a:avLst/>
          </a:prstGeom>
          <a:solidFill>
            <a:srgbClr val="D7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079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74E4E"/>
                </a:solidFill>
                <a:latin typeface="Calibri"/>
              </a:rPr>
              <a:t>MENACES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D74E4E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Saturation publicitaire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D74E4E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Attention en ligne volatile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D74E4E"/>
                </a:solidFill>
                <a:latin typeface="Calibri"/>
              </a:rPr>
              <a:t>•  </a:t>
            </a:r>
            <a:r>
              <a:rPr sz="1350">
                <a:solidFill>
                  <a:srgbClr val="1E1E2C"/>
                </a:solidFill>
                <a:latin typeface="Calibri"/>
              </a:rPr>
              <a:t>Risque météo / saisonnalité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CAS PRATIQUE — VARCADIA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La stratégie : un teasing en 2 actes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44368"/>
            <a:ext cx="105156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1233"/>
                </a:solidFill>
                <a:latin typeface="Calibri"/>
              </a:rPr>
              <a:t>J-30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832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1E1E2C"/>
                </a:solidFill>
                <a:latin typeface="Calibri"/>
              </a:rPr>
              <a:t>Mystère</a:t>
            </a:r>
          </a:p>
        </p:txBody>
      </p:sp>
      <p:sp>
        <p:nvSpPr>
          <p:cNvPr id="11" name="Oval 10"/>
          <p:cNvSpPr/>
          <p:nvPr/>
        </p:nvSpPr>
        <p:spPr>
          <a:xfrm>
            <a:off x="3154679" y="2651760"/>
            <a:ext cx="640080" cy="640080"/>
          </a:xfrm>
          <a:prstGeom prst="ellipse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1233"/>
                </a:solidFill>
                <a:latin typeface="Calibri"/>
              </a:rPr>
              <a:t>J-20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3832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1E1E2C"/>
                </a:solidFill>
                <a:latin typeface="Calibri"/>
              </a:rPr>
              <a:t>Montée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1760"/>
            <a:ext cx="640080" cy="640080"/>
          </a:xfrm>
          <a:prstGeom prst="ellipse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1233"/>
                </a:solidFill>
                <a:latin typeface="Calibri"/>
              </a:rPr>
              <a:t>J-7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1E1E2C"/>
                </a:solidFill>
                <a:latin typeface="Calibri"/>
              </a:rPr>
              <a:t>Pré-ouverture</a:t>
            </a:r>
          </a:p>
        </p:txBody>
      </p:sp>
      <p:sp>
        <p:nvSpPr>
          <p:cNvPr id="17" name="Oval 16"/>
          <p:cNvSpPr/>
          <p:nvPr/>
        </p:nvSpPr>
        <p:spPr>
          <a:xfrm>
            <a:off x="7818119" y="26517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1233"/>
                </a:solidFill>
                <a:latin typeface="Calibri"/>
              </a:rPr>
              <a:t>JOUR 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33832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1E1E2C"/>
                </a:solidFill>
                <a:latin typeface="Calibri"/>
              </a:rPr>
              <a:t>Dévoilement</a:t>
            </a:r>
          </a:p>
        </p:txBody>
      </p:sp>
      <p:sp>
        <p:nvSpPr>
          <p:cNvPr id="20" name="Oval 19"/>
          <p:cNvSpPr/>
          <p:nvPr/>
        </p:nvSpPr>
        <p:spPr>
          <a:xfrm>
            <a:off x="10149840" y="2651760"/>
            <a:ext cx="640080" cy="640080"/>
          </a:xfrm>
          <a:prstGeom prst="ellipse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1945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1233"/>
                </a:solidFill>
                <a:latin typeface="Calibri"/>
              </a:rPr>
              <a:t>J+15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8328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1E1E2C"/>
                </a:solidFill>
                <a:latin typeface="Calibri"/>
              </a:rPr>
              <a:t>Entretien (UGC)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72000"/>
            <a:ext cx="5440680" cy="1371600"/>
          </a:xfrm>
          <a:prstGeom prst="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720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ACTE 1 — Créer le manque</a:t>
            </a:r>
          </a:p>
          <a:p>
            <a:pPr algn="l"/>
            <a:r>
              <a:rPr sz="1400" b="0" i="0">
                <a:solidFill>
                  <a:srgbClr val="F2F1F7"/>
                </a:solidFill>
                <a:latin typeface="Calibri"/>
              </a:rPr>
              <a:t>Entretenir le mystère pour susciter curiosité et impatience.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572000"/>
            <a:ext cx="5440680" cy="13716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572000"/>
            <a:ext cx="5029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ACTE 2 — Offrir la révélation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Récompenser l'attente le jour J et convertir en visite.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CAS PRATIQUE — VARCADIA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Production hybride : réel +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246120" cy="17373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246120" cy="594360"/>
          </a:xfrm>
          <a:prstGeom prst="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92024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Tournage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E1E2C"/>
                </a:solidFill>
                <a:latin typeface="Calibri"/>
              </a:rPr>
              <a:t>Authenticité,
ancrage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31720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246120" cy="17373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246120" cy="5943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Kling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5176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E1E2C"/>
                </a:solidFill>
                <a:latin typeface="Calibri"/>
              </a:rPr>
              <a:t>Univers immersif,
animation mascotte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31720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6B3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246120" cy="17373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3246120" cy="59436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920240"/>
            <a:ext cx="3063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Nano Banana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E1E2C"/>
                </a:solidFill>
                <a:latin typeface="Calibri"/>
              </a:rPr>
              <a:t>Montage, musique,
formats 16:9 / 9:16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10927080" cy="1874519"/>
          </a:xfrm>
          <a:prstGeom prst="rect">
            <a:avLst/>
          </a:prstGeom>
          <a:solidFill>
            <a:srgbClr val="14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109728" cy="1874519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245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1C7D4"/>
                </a:solidFill>
                <a:latin typeface="Calibri"/>
              </a:rPr>
              <a:t>LE PROMPT ENGINEERING = UNE DIRECTION ARTISTIQUE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Traduire une intention créative en langage exploitable par la machine.</a:t>
            </a:r>
          </a:p>
          <a:p>
            <a:pPr algn="l"/>
            <a:r>
              <a:rPr sz="1500" b="0" i="1">
                <a:solidFill>
                  <a:srgbClr val="FF6B35"/>
                </a:solidFill>
                <a:latin typeface="Calibri"/>
              </a:rPr>
              <a:t>Ex. « Mascotte tirant une immense bâche, geste ample, fluide »  →  6 itérations avant le bon rendu.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CAS PRATIQUE — VARCADIA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Les deux vidéos de la campagne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40680" cy="31089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440680" cy="640080"/>
          </a:xfrm>
          <a:prstGeom prst="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5074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VIDÉO 1 — « L'ÉVASION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21B4E"/>
                </a:solidFill>
                <a:latin typeface="Calibri"/>
              </a:rPr>
              <a:t>TEASING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221B4E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Ressort : manque → évasion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21B4E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Pivot : le flash lumineux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21B4E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Signature : « soon à Soualem »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221B4E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Objectif : notoriété &amp; vues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5074920"/>
            <a:ext cx="5074920" cy="685800"/>
          </a:xfrm>
          <a:prstGeom prst="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074920"/>
            <a:ext cx="5074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  INSÉRER L'EXTRAIT VIDÉO (10-15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74519"/>
            <a:ext cx="5440680" cy="31089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874519"/>
            <a:ext cx="544068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5074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VIDÉO 2 — « LA MASCOTTE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DÉVOILEMENT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FF6B35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Ressort : mystère → révélation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FF6B35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Pivot : la chute de la bâche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FF6B35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Message : « c'est ouvert ! »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FF6B35"/>
                </a:solidFill>
                <a:latin typeface="Calibri"/>
              </a:rPr>
              <a:t>•  </a:t>
            </a:r>
            <a:r>
              <a:rPr sz="1450">
                <a:solidFill>
                  <a:srgbClr val="1E1E2C"/>
                </a:solidFill>
                <a:latin typeface="Calibri"/>
              </a:rPr>
              <a:t>Objectif : visite &amp; conversion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5074920"/>
            <a:ext cx="5074920" cy="6858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5074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▶  INSÉRER L'EXTRAIT VIDÉO (10-15 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RÉSULTATS &amp;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Des chiffres qui valident l'approche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685800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155448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Indicateur (KPI)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YouTube Ads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Meta Ads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Global / Benchmark</a:t>
                      </a:r>
                    </a:p>
                  </a:txBody>
                  <a:tcPr marL="73152" marR="73152" marT="27432" marB="27432" anchor="ctr">
                    <a:solidFill>
                      <a:srgbClr val="141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Vues vidéo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642 000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458 000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~ 1 250 000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Taux de visionnage (VTR)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38 %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benchmark : 20-25 %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Taux d'engagement (Reels)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9,2 %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benchmark : 4-6 %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Taux de clics (CTR)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1,4 %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2,1 %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~ 1,7 %</a:t>
                      </a:r>
                    </a:p>
                  </a:txBody>
                  <a:tcPr marL="73152" marR="73152" marT="27432" marB="27432" anchor="ctr">
                    <a:solidFill>
                      <a:srgbClr val="F2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Coût par vue (CPV)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~ 0,05 MAD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~ 0,06 MAD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1E2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18120" y="1783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C7D4"/>
                </a:solidFill>
                <a:latin typeface="Calibri"/>
              </a:rPr>
              <a:t>ENTONNOIR DE CONVERSION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240280"/>
            <a:ext cx="36576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24028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3 850 000 — Impressions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898648"/>
            <a:ext cx="310896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898648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1 250 000 — Vues vidéo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3557015"/>
            <a:ext cx="256032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57015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118 000 — Engagements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4215383"/>
            <a:ext cx="201168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215383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41 000 — Clics / visites profil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873751"/>
            <a:ext cx="146304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873751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3 600 — Visiteurs le jour 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74920"/>
            <a:ext cx="6858000" cy="868680"/>
          </a:xfrm>
          <a:prstGeom prst="rect">
            <a:avLst/>
          </a:prstGeom>
          <a:solidFill>
            <a:srgbClr val="14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12 000 visiteurs dès le 1er week-end : l'attention numérique transformée en fréquentation physique réelle.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RÉSULTATS &amp;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Retour aux hypothèses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914400" cy="82296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965960"/>
            <a:ext cx="7040880" cy="8229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965960"/>
            <a:ext cx="6675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E1E2C"/>
                </a:solidFill>
                <a:latin typeface="Calibri"/>
              </a:rPr>
              <a:t>IA + ciblage  →  hausse des conversions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965960"/>
            <a:ext cx="2651760" cy="822960"/>
          </a:xfrm>
          <a:prstGeom prst="round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  CONFIRMÉE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914400" cy="82296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971800"/>
            <a:ext cx="7040880" cy="8229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971800"/>
            <a:ext cx="6675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E1E2C"/>
                </a:solidFill>
                <a:latin typeface="Calibri"/>
              </a:rPr>
              <a:t>Contenu IA  →  engagement comparable (cas étudié)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971800"/>
            <a:ext cx="2651760" cy="822960"/>
          </a:xfrm>
          <a:prstGeom prst="round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  CONFIRMÉE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914400" cy="822960"/>
          </a:xfrm>
          <a:prstGeom prst="roundRect">
            <a:avLst/>
          </a:prstGeom>
          <a:solidFill>
            <a:srgbClr val="22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3977639"/>
            <a:ext cx="7040880" cy="822960"/>
          </a:xfrm>
          <a:prstGeom prst="rect">
            <a:avLst/>
          </a:prstGeom>
          <a:solidFill>
            <a:srgbClr val="F2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977639"/>
            <a:ext cx="6675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E1E2C"/>
                </a:solidFill>
                <a:latin typeface="Calibri"/>
              </a:rPr>
              <a:t>IA  →  avantage concurrentiel mesurable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977639"/>
            <a:ext cx="2651760" cy="822960"/>
          </a:xfrm>
          <a:prstGeom prst="roundRect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  CONFIRMÉE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0927080" cy="914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Une condition essentielle : une direction artistique humaine claire. L'IA amplifie le talent, elle ne le remplace pas.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41233"/>
                </a:solidFill>
                <a:latin typeface="Calibri"/>
              </a:rPr>
              <a:t>Enseignements &amp; limites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828800" cy="3810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B6B7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C7D4"/>
                </a:solidFill>
                <a:latin typeface="Calibri"/>
              </a:rPr>
              <a:t>4 ENSEIGNEMENTS TRANSFÉRABLES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94360" cy="5943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 i="0">
                <a:solidFill>
                  <a:srgbClr val="1E1E2C"/>
                </a:solidFill>
                <a:latin typeface="Calibri"/>
              </a:rPr>
              <a:t>Le teasing hybride démocratise la production haut de gamme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35808"/>
            <a:ext cx="594360" cy="5943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35808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 i="0">
                <a:solidFill>
                  <a:srgbClr val="1E1E2C"/>
                </a:solidFill>
                <a:latin typeface="Calibri"/>
              </a:rPr>
              <a:t>La direction artistique humaine reste déterminante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85615"/>
            <a:ext cx="594360" cy="5943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85615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 i="0">
                <a:solidFill>
                  <a:srgbClr val="1E1E2C"/>
                </a:solidFill>
                <a:latin typeface="Calibri"/>
              </a:rPr>
              <a:t>Digital + affichage = portée mesurable + ancrage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594360" cy="5943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35424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 i="0">
                <a:solidFill>
                  <a:srgbClr val="1E1E2C"/>
                </a:solidFill>
                <a:latin typeface="Calibri"/>
              </a:rPr>
              <a:t>La cohérence narrative fait l'efficacité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80"/>
            <a:ext cx="10927080" cy="868680"/>
          </a:xfrm>
          <a:prstGeom prst="rect">
            <a:avLst/>
          </a:prstGeom>
          <a:solidFill>
            <a:srgbClr val="141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440680"/>
            <a:ext cx="109728" cy="868680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 i="1">
                <a:solidFill>
                  <a:srgbClr val="F2F1F7"/>
                </a:solidFill>
                <a:latin typeface="Calibri"/>
              </a:rPr>
              <a:t>Limites assumées : cas unique (non généralisable), biais de proximité, obsolescence rapide des outils.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1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L'IA apporte une valeur ajoutée réelle et mesurable au marketing digital</a:t>
            </a:r>
          </a:p>
          <a:p>
            <a:pPr algn="l"/>
            <a:r>
              <a:rPr sz="2200" b="1" i="0">
                <a:solidFill>
                  <a:srgbClr val="21C7D4"/>
                </a:solidFill>
                <a:latin typeface="Calibri"/>
              </a:rPr>
              <a:t>— à condition d'être guidée par une vision stratégique et une supervision humaine.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2743200" cy="381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F2F1F7"/>
                </a:solidFill>
                <a:latin typeface="Calibri"/>
              </a:rPr>
              <a:t>« On ne produit plus l'image. On décrit l'image que l'on veut obtenir.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libri"/>
              </a:rPr>
              <a:t>Merci de votre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B6B7B"/>
                </a:solidFill>
                <a:latin typeface="Calibri"/>
              </a:rPr>
              <a:t>Je suis à votre disposition pour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